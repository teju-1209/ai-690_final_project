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1253dc53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1253dc53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253dc538_2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1253dc538_2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1253dc53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1253dc53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1253dc538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1253dc538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1253dc5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1253dc5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1253dc538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1253dc538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1253dc538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b1253dc538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1253dc538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b1253dc538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610179"/>
            <a:ext cx="82296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3305176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57200" y="1451426"/>
            <a:ext cx="4038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648200" y="1451426"/>
            <a:ext cx="4038600" cy="317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body"/>
          </p:nvPr>
        </p:nvSpPr>
        <p:spPr>
          <a:xfrm>
            <a:off x="457199" y="1397255"/>
            <a:ext cx="40401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2" type="body"/>
          </p:nvPr>
        </p:nvSpPr>
        <p:spPr>
          <a:xfrm>
            <a:off x="457199" y="1989969"/>
            <a:ext cx="40401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8" name="Google Shape;38;p6"/>
          <p:cNvSpPr txBox="1"/>
          <p:nvPr>
            <p:ph idx="3" type="body"/>
          </p:nvPr>
        </p:nvSpPr>
        <p:spPr>
          <a:xfrm>
            <a:off x="4645025" y="1397255"/>
            <a:ext cx="4041900" cy="43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4" type="body"/>
          </p:nvPr>
        </p:nvSpPr>
        <p:spPr>
          <a:xfrm>
            <a:off x="4645025" y="1989969"/>
            <a:ext cx="40419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679122"/>
            <a:ext cx="3008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3575050" y="679122"/>
            <a:ext cx="5111700" cy="39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2" name="Google Shape;52;p9"/>
          <p:cNvSpPr txBox="1"/>
          <p:nvPr>
            <p:ph idx="2" type="body"/>
          </p:nvPr>
        </p:nvSpPr>
        <p:spPr>
          <a:xfrm>
            <a:off x="457201" y="1609519"/>
            <a:ext cx="3008400" cy="29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3" name="Google Shape;53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/>
          <p:cNvSpPr txBox="1"/>
          <p:nvPr>
            <p:ph type="title"/>
          </p:nvPr>
        </p:nvSpPr>
        <p:spPr>
          <a:xfrm>
            <a:off x="1792288" y="3858517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0"/>
          <p:cNvSpPr/>
          <p:nvPr>
            <p:ph idx="2" type="pic"/>
          </p:nvPr>
        </p:nvSpPr>
        <p:spPr>
          <a:xfrm>
            <a:off x="1792288" y="717648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1792288" y="4283570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Google Shape;60;p11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EAD3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702644"/>
            <a:ext cx="8229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10179"/>
            <a:ext cx="8229600" cy="29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MD-flag-background-ppt.png"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MBC-primary-logo-CMYK-on-black.png" id="11" name="Google Shape;11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94287" y="86177"/>
            <a:ext cx="1749254" cy="4029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rner-element.png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19918" y="39010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</p:sldLayoutIdLst>
  <mc:AlternateContent>
    <mc:Choice Requires="p14">
      <p:transition p14:dur="100">
        <p:fade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image" Target="../media/image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Real-Time Age &amp; Gender Detection using Jetson Nano</a:t>
            </a:r>
            <a:endParaRPr/>
          </a:p>
        </p:txBody>
      </p:sp>
      <p:sp>
        <p:nvSpPr>
          <p:cNvPr id="71" name="Google Shape;71;p12"/>
          <p:cNvSpPr txBox="1"/>
          <p:nvPr>
            <p:ph idx="1" type="subTitle"/>
          </p:nvPr>
        </p:nvSpPr>
        <p:spPr>
          <a:xfrm>
            <a:off x="5737500" y="2867500"/>
            <a:ext cx="3094800" cy="792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-Tejaswini Veeramachaneni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-Sruthi Velpula</a:t>
            </a:r>
            <a:endParaRPr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-215650" y="830850"/>
            <a:ext cx="6643200" cy="66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319175" y="1362975"/>
            <a:ext cx="8288700" cy="3264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i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Airport Security Monitoring Challenges:</a:t>
            </a:r>
            <a:endParaRPr b="1" i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r>
              <a:t/>
            </a:r>
            <a:endParaRPr b="1" sz="1300">
              <a:solidFill>
                <a:schemeClr val="dk1"/>
              </a:solidFill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Airports handle high passenger traffic, making manual monitoring difficult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real-time automated age and gender analysis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methods are time-consuming and prone to errors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Cloud-based solutions introduce latency and privacy concerns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5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for a fast, edge-based AI system for airport security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4"/>
          <p:cNvSpPr txBox="1"/>
          <p:nvPr>
            <p:ph type="title"/>
          </p:nvPr>
        </p:nvSpPr>
        <p:spPr>
          <a:xfrm>
            <a:off x="347150" y="7226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Objective:</a:t>
            </a:r>
            <a:endParaRPr/>
          </a:p>
        </p:txBody>
      </p:sp>
      <p:sp>
        <p:nvSpPr>
          <p:cNvPr id="83" name="Google Shape;83;p14"/>
          <p:cNvSpPr txBox="1"/>
          <p:nvPr>
            <p:ph idx="1" type="body"/>
          </p:nvPr>
        </p:nvSpPr>
        <p:spPr>
          <a:xfrm>
            <a:off x="347150" y="1561400"/>
            <a:ext cx="8046300" cy="2682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64705"/>
              <a:buFont typeface="Arial"/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a real-time system to detect age and gender of passengers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an edge-based AI solution using Jetson Nano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latency and privacy risks by avoiding cloud processing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airport security and crowd monitoring applications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878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•"/>
            </a:pPr>
            <a:r>
              <a:rPr lang="en" sz="3652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Demonstrate a practical and scalable computer vision system</a:t>
            </a:r>
            <a:endParaRPr sz="365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/>
          <p:nvPr>
            <p:ph type="title"/>
          </p:nvPr>
        </p:nvSpPr>
        <p:spPr>
          <a:xfrm>
            <a:off x="536950" y="7312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Architecture</a:t>
            </a:r>
            <a:endParaRPr/>
          </a:p>
        </p:txBody>
      </p:sp>
      <p:sp>
        <p:nvSpPr>
          <p:cNvPr id="89" name="Google Shape;89;p15"/>
          <p:cNvSpPr txBox="1"/>
          <p:nvPr>
            <p:ph idx="1" type="body"/>
          </p:nvPr>
        </p:nvSpPr>
        <p:spPr>
          <a:xfrm>
            <a:off x="1154350" y="1597875"/>
            <a:ext cx="7087800" cy="3034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Input: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USB camera captures live video frames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Detection: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Haar Cascade detects faces in each frame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Centroid Tracking: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assigns a </a:t>
            </a: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ID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each detected face across frames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People Counting: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count = number of tracked IDs (unique people)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Preprocessing: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convert face ROI to blob (227×227)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 Models:</a:t>
            </a:r>
            <a:endParaRPr b="1"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GenderNet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Male/Female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1" marL="9144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–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AgeNet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age range bucket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5565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show </a:t>
            </a:r>
            <a:r>
              <a:rPr b="1"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bounding box + ID + age + gender + people count</a:t>
            </a:r>
            <a:r>
              <a:rPr lang="en" sz="4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 live video</a:t>
            </a:r>
            <a:endParaRPr sz="4848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4606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Char char="•"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/>
          <p:nvPr>
            <p:ph type="title"/>
          </p:nvPr>
        </p:nvSpPr>
        <p:spPr>
          <a:xfrm>
            <a:off x="157375" y="6967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Workflow</a:t>
            </a:r>
            <a:r>
              <a:rPr lang="en"/>
              <a:t> </a:t>
            </a:r>
            <a:endParaRPr/>
          </a:p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42700" y="1432800"/>
            <a:ext cx="4865100" cy="3147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32500"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 live video frames using a USB camera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 faces in each frame using Haar Cascade classifier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Arial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</a:t>
            </a:r>
            <a:r>
              <a:rPr b="1"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Centroid Tracking algorithm</a:t>
            </a: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to track faces across frames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 a unique ID to each detected person and count total people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Extract face region of interest (ROI) for each tracked person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Preprocess face images to the required input size (227 × 227)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 age and gender prediction using deep learning models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8128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50201"/>
              <a:buFont typeface="Times New Roman"/>
              <a:buChar char="•"/>
            </a:pPr>
            <a:r>
              <a:rPr lang="en" sz="38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 bounding box, ID, age, gender, and people count on live video</a:t>
            </a:r>
            <a:endParaRPr sz="381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7775" y="1693625"/>
            <a:ext cx="3477775" cy="282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217750" y="696725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 Used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59275" y="1415650"/>
            <a:ext cx="4687800" cy="3727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b="1" sz="37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9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•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AgeNet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 for predicting age range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age in predefined age group buckets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: 65- 70%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•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GenderNet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 learning model for gender classification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Outputs Male or Female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–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 : 85%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•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Both models are Caffe-based pre-trained models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497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5"/>
              <a:buFont typeface="Times New Roman"/>
              <a:buChar char="•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 loaded and executed using OpenCV DNN module</a:t>
            </a:r>
            <a:endParaRPr sz="104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1626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78"/>
              <a:buFont typeface="Times New Roman"/>
              <a:buChar char="•"/>
            </a:pPr>
            <a:r>
              <a:rPr lang="en" sz="104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Optimized for real-time inference on Jetson</a:t>
            </a:r>
            <a:r>
              <a:rPr lang="en" sz="87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Nano</a:t>
            </a:r>
            <a:endParaRPr sz="877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64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100"/>
          </a:p>
        </p:txBody>
      </p:sp>
      <p:sp>
        <p:nvSpPr>
          <p:cNvPr id="103" name="Google Shape;103;p17"/>
          <p:cNvSpPr txBox="1"/>
          <p:nvPr/>
        </p:nvSpPr>
        <p:spPr>
          <a:xfrm>
            <a:off x="5247825" y="1787525"/>
            <a:ext cx="3828900" cy="13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9225" y="1724925"/>
            <a:ext cx="4627500" cy="222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Centroid Tracking Algorithm</a:t>
            </a:r>
            <a:endParaRPr/>
          </a:p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311700" y="1453675"/>
            <a:ext cx="4581300" cy="2827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Centroid tracking is a  object tracking technique used to detected faces across video frames.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Lightweight, fast, and suitable for real-time applications 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The center point (centroid) of the bounding box is calculated f</a:t>
            </a: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or each detected faces.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If no matching centroid is found, the algorithm assigns a new ID to that face.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6428" lvl="0" marL="457200" rtl="0" algn="l">
              <a:spcBef>
                <a:spcPts val="640"/>
              </a:spcBef>
              <a:spcAft>
                <a:spcPts val="0"/>
              </a:spcAft>
              <a:buSzPct val="100000"/>
              <a:buFont typeface="Times New Roman"/>
              <a:buChar char="❏"/>
            </a:pPr>
            <a:r>
              <a:rPr lang="en" sz="5532">
                <a:latin typeface="Times New Roman"/>
                <a:ea typeface="Times New Roman"/>
                <a:cs typeface="Times New Roman"/>
                <a:sym typeface="Times New Roman"/>
              </a:rPr>
              <a:t>Prevents counting the same person multiple times by remembering the past faces with ID.</a:t>
            </a:r>
            <a:endParaRPr sz="5532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56"/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5300000" y="1391075"/>
            <a:ext cx="384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4976575" y="1641475"/>
            <a:ext cx="37245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3000" y="1453675"/>
            <a:ext cx="3984550" cy="254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 </a:t>
            </a:r>
            <a:endParaRPr/>
          </a:p>
        </p:txBody>
      </p:sp>
      <p:sp>
        <p:nvSpPr>
          <p:cNvPr id="119" name="Google Shape;119;p19"/>
          <p:cNvSpPr txBox="1"/>
          <p:nvPr>
            <p:ph idx="1" type="body"/>
          </p:nvPr>
        </p:nvSpPr>
        <p:spPr>
          <a:xfrm>
            <a:off x="311700" y="1152475"/>
            <a:ext cx="86304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50" y="1152475"/>
            <a:ext cx="4086300" cy="327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7675" y="1152475"/>
            <a:ext cx="4705851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650" y="796400"/>
            <a:ext cx="8565550" cy="393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